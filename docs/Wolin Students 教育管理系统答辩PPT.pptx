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大家好，今天我将为大家展示我们团队开发的Wolin Students教育管理系统。这是一个基于FastAPI框架构建的，旨在为教育机构提供全面、高效的学生信息管理解决方案。接下来，我将从项目背景、技术选型、功能实现、数据库设计等多个方面进行详细介绍。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答辩将围绕六个方面展开。首先，我会介绍项目的背景和核心特性。接着，详细说明我们选用的技术栈及其原因。然后，我会逐一讲解系统的六大功能模块。之后，将深入分析数据库的设计思路，包括表结构和ER图。再然后，展示我们清晰的项目代码结构。最后，对整个项目进行总结并对未来工作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来看项目简介。我们的目标是打造一个一体化的教育管理平台。在背景方面，我们发现许多教育机构仍在使用传统方式管理学生信息，效率低下且难以进行数据分析。因此，我们开发了这套系统。它的核心特性包括遵循RESTful规范的API设计、清晰的三层架构、严格的数据验证机制、实用的逻辑删除功能、强大的统计分析能力以及便捷的自动接口文档，这些特性共同构成了一个稳定、高效且易于使用的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接下来介绍我们的技术栈。后端核心采用Python语言，搭配FastAPI框架来构建高性能的RESTful API。数据访问层使用SQLAlchemy ORM，简化了数据库操作。数据验证则交给Pydantic处理，确保了接口的健壮性。数据库选用了成熟的MySQL，而服务则通过Uvicorn ASGI服务器运行。选择这些技术的原因在于它们各自的优势：FastAPI的高效开发与自动文档，SQLAlchemy的强大数据处理能力，以及Pydantic的严格数据校验，共同保障了系统的稳定性和开发效率。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系统主要分为六大功能模块，分别是学生管理、班级管理、教师管理、考试管理、就业管理和统计分析。每个模块都由专门的负责人开发，确保了开发的专业性和效率。接下来，我将逐一为大家详细介绍这些模块的具体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学生管理模块。该模块提供了完整的学生信息生命周期管理，包括增删改查等基本操作。查询功能支持多条件筛选，方便快速定位学生。创建学生时会自动初始化其就业记录，体现了系统的关联性设计。学生信息涵盖了基本信息、学历背景、时间节点以及与班级和顾问的关联，数据维度全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接下来看班级和教师管理模块。这两个模块是教务管理系统的基石。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是班级管理模块，它负责班级的全生命周期管理。除了常规的增删改查外，我们特别设计了逻辑删除与恢复功能，防止因误操作导致的历史数据丢失。同时，系统支持快速检索某位班主任所管理的所有班级，便于进行整体的教学评估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是教师管理模块。我们不仅管理教师的基本档案，更重要的是建立了精细化的角色体系。系统将教师分为顾问、班主任和讲师三种角色。例如，班主任拥有班级的最高管理权限，可以查看本班所有学生信息；而讲师主要负责课程教学，权限则集中在授课和成绩录入上；顾问则侧重于学生的生涯规划和辅导。这种基于角色的权限控制，既保证了工作的专业性，又确保了数据的安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考试与就业是学生管理中的两个关键环节。考试管理模块负责记录和维护学生的历次考试成绩，支持成绩的灵活更新。就业管理模块则跟踪学生的就业进展，从就业开放到拿到Offer，记录了完整的就业信息，包括薪资等敏感数据，为就业质量分析提供了数据基础。同时，该模块也支持对就业记录的逻辑删除与恢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统计分析模块是系统的智慧大脑，它基于前面模块积累的数据，提供了丰富的数据分析能力。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我们可以统计特定年龄段的学生分布、各班级的性别比例、成绩排名、不及格学生名单等教学相关数据，也可以分析就业情况，如薪资TOP5和热门就业公司。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此外，系统还支持报表的一键导出和异常数据的智能预警，最后通过一个数据总览仪表盘，让管理者能够直观地掌握机构的整体运营状况。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接下来是数据库设计部分。我们设计了六张核心数据表来支撑系统的运行。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首先是基础实体表：教师表、班级表和学生表。它们分别存储对应角色的基础信息，是整个数据库的基石。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其次是业务扩展表：考试成绩表和就业信息表。这两张表作为学生表的附属表，分别记录了学生在校期间的学业表现和毕业后的职业发展情况。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最后，我们还设计了班级教师关联表。这张表非常关键，它用于维护班级与授课教师之间的多对多关系，避免了数据冗余，确保了数据结构的合理性和完整性。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ER图直观地展示了我们数据库中各个实体之间的关系。教师和班级是一对多的关系，一个班级由一位班主任管理。班级和学生也是一对多的关系。教师和学生通过顾问角色形成多对多的关联。学生和考试成绩是一对多的关系，记录了学生的学习轨迹。最后，学生和就业信息是一对一的关系，跟踪其职业发展。这种清晰的关系设计确保了数据的一致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项目采用了经典的三层架构设计，以保证代码的清晰和可维护性。最外层是API层，负责接收前端请求和返回响应。中间是DAO层，即数据访问层，专门处理与数据库的交互。最底层是Model层，定义了数据库的表结构。此外，我们还引入了Schemas层，用于数据验证和响应格式化。这种结构使得各层职责明确，降低了模块间的耦合度，非常适合团队开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总结一下，我们成功完成了Wolin Students教育管理系统的开发。系统实现了最初规划的六大核心功能模块，技术上采用了FastAPI和SQLAlchemy等主流技术，保证了系统的高性能和可维护性。从实际价值来看，该系统能够帮助教育机构实现信息化管理，提升工作效率，并通过数据分析辅助管理决策，具有良好的应用前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对于未来，我们计划开发前端界面，让系统更易于使用；进一步优化性能，以支持更大的数据量；并增加更多的可视化分析功能。同时，我们也会加强系统的安全性。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最后，我要感谢指导老师的悉心指导，感谢团队成员的辛勤付出，也感谢各位评委的聆听，恳请大家批评指正。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我的答辩到此结束，再次感谢各位的聆听，欢迎大家提问和指正。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15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1.svg" Type="http://schemas.openxmlformats.org/officeDocument/2006/relationships/image"/><Relationship Id="rId11" Target="../media/image22.png" Type="http://schemas.openxmlformats.org/officeDocument/2006/relationships/image"/><Relationship Id="rId12" Target="../media/image23.sv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17" Target="../media/image28.png" Type="http://schemas.openxmlformats.org/officeDocument/2006/relationships/image"/><Relationship Id="rId18" Target="../media/image29.svg" Type="http://schemas.openxmlformats.org/officeDocument/2006/relationships/image"/><Relationship Id="rId19" Target="../notesSlides/notesSlide3.xml" Type="http://schemas.openxmlformats.org/officeDocument/2006/relationships/notesSlide"/><Relationship Id="rId2" Target="../media/image17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jpe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6.jpe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Relationship Id="rId5" Target="../media/image39.jpeg" Type="http://schemas.openxmlformats.org/officeDocument/2006/relationships/image"/><Relationship Id="rId6" Target="../media/image40.jpeg" Type="http://schemas.openxmlformats.org/officeDocument/2006/relationships/image"/><Relationship Id="rId7" Target="../media/image41.jpe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14" Target="../media/image54.png" Type="http://schemas.openxmlformats.org/officeDocument/2006/relationships/image"/><Relationship Id="rId15" Target="../media/image55.svg" Type="http://schemas.openxmlformats.org/officeDocument/2006/relationships/image"/><Relationship Id="rId16" Target="../media/image56.png" Type="http://schemas.openxmlformats.org/officeDocument/2006/relationships/image"/><Relationship Id="rId17" Target="../media/image57.svg" Type="http://schemas.openxmlformats.org/officeDocument/2006/relationships/image"/><Relationship Id="rId18" Target="../notesSlides/notesSlide6.xml" Type="http://schemas.openxmlformats.org/officeDocument/2006/relationships/notesSlide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61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2.png" Type="http://schemas.openxmlformats.org/officeDocument/2006/relationships/image"/><Relationship Id="rId3" Target="../media/image63.sv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6.png" Type="http://schemas.openxmlformats.org/officeDocument/2006/relationships/image"/><Relationship Id="rId11" Target="../media/image77.svg" Type="http://schemas.openxmlformats.org/officeDocument/2006/relationships/image"/><Relationship Id="rId12" Target="../media/image78.png" Type="http://schemas.openxmlformats.org/officeDocument/2006/relationships/image"/><Relationship Id="rId13" Target="../media/image79.svg" Type="http://schemas.openxmlformats.org/officeDocument/2006/relationships/image"/><Relationship Id="rId14" Target="../notesSlides/notesSlide9.xml" Type="http://schemas.openxmlformats.org/officeDocument/2006/relationships/notesSlide"/><Relationship Id="rId2" Target="../media/image68.png" Type="http://schemas.openxmlformats.org/officeDocument/2006/relationships/image"/><Relationship Id="rId3" Target="../media/image69.svg" Type="http://schemas.openxmlformats.org/officeDocument/2006/relationships/image"/><Relationship Id="rId4" Target="../media/image70.png" Type="http://schemas.openxmlformats.org/officeDocument/2006/relationships/image"/><Relationship Id="rId5" Target="../media/image71.svg" Type="http://schemas.openxmlformats.org/officeDocument/2006/relationships/image"/><Relationship Id="rId6" Target="../media/image72.png" Type="http://schemas.openxmlformats.org/officeDocument/2006/relationships/image"/><Relationship Id="rId7" Target="../media/image73.svg" Type="http://schemas.openxmlformats.org/officeDocument/2006/relationships/image"/><Relationship Id="rId8" Target="../media/image74.png" Type="http://schemas.openxmlformats.org/officeDocument/2006/relationships/image"/><Relationship Id="rId9" Target="../media/image7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12" Target="../media/image84.png" Type="http://schemas.openxmlformats.org/officeDocument/2006/relationships/image"/><Relationship Id="rId13" Target="../media/image85.svg" Type="http://schemas.openxmlformats.org/officeDocument/2006/relationships/image"/><Relationship Id="rId14" Target="../notesSlides/notesSlide10.xml" Type="http://schemas.openxmlformats.org/officeDocument/2006/relationships/notesSlide"/><Relationship Id="rId2" Target="../media/image80.png" Type="http://schemas.openxmlformats.org/officeDocument/2006/relationships/image"/><Relationship Id="rId3" Target="../media/image81.sv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82.png" Type="http://schemas.openxmlformats.org/officeDocument/2006/relationships/image"/><Relationship Id="rId7" Target="../media/image83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6.jpeg" Type="http://schemas.openxmlformats.org/officeDocument/2006/relationships/image"/><Relationship Id="rId3" Target="../media/image87.png" Type="http://schemas.openxmlformats.org/officeDocument/2006/relationships/image"/><Relationship Id="rId4" Target="../media/image88.svg" Type="http://schemas.openxmlformats.org/officeDocument/2006/relationships/image"/><Relationship Id="rId5" Target="../media/image89.png" Type="http://schemas.openxmlformats.org/officeDocument/2006/relationships/image"/><Relationship Id="rId6" Target="../media/image90.svg" Type="http://schemas.openxmlformats.org/officeDocument/2006/relationships/image"/><Relationship Id="rId7" Target="../media/image84.png" Type="http://schemas.openxmlformats.org/officeDocument/2006/relationships/image"/><Relationship Id="rId8" Target="../media/image85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93.png" Type="http://schemas.openxmlformats.org/officeDocument/2006/relationships/image"/><Relationship Id="rId7" Target="../media/image94.sv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101.png" Type="http://schemas.openxmlformats.org/officeDocument/2006/relationships/image"/><Relationship Id="rId13" Target="../media/image102.svg" Type="http://schemas.openxmlformats.org/officeDocument/2006/relationships/image"/><Relationship Id="rId14" Target="../media/image103.png" Type="http://schemas.openxmlformats.org/officeDocument/2006/relationships/image"/><Relationship Id="rId15" Target="../media/image104.svg" Type="http://schemas.openxmlformats.org/officeDocument/2006/relationships/image"/><Relationship Id="rId16" Target="../notesSlides/notesSlide14.xml" Type="http://schemas.openxmlformats.org/officeDocument/2006/relationships/notesSlide"/><Relationship Id="rId2" Target="../media/image95.png" Type="http://schemas.openxmlformats.org/officeDocument/2006/relationships/image"/><Relationship Id="rId3" Target="../media/image96.svg" Type="http://schemas.openxmlformats.org/officeDocument/2006/relationships/image"/><Relationship Id="rId4" Target="../media/image97.png" Type="http://schemas.openxmlformats.org/officeDocument/2006/relationships/image"/><Relationship Id="rId5" Target="../media/image98.svg" Type="http://schemas.openxmlformats.org/officeDocument/2006/relationships/image"/><Relationship Id="rId6" Target="../media/image93.png" Type="http://schemas.openxmlformats.org/officeDocument/2006/relationships/image"/><Relationship Id="rId7" Target="../media/image94.svg" Type="http://schemas.openxmlformats.org/officeDocument/2006/relationships/image"/><Relationship Id="rId8" Target="../media/image99.png" Type="http://schemas.openxmlformats.org/officeDocument/2006/relationships/image"/><Relationship Id="rId9" Target="../media/image10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10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5791200" y="1270000"/>
            <a:ext cx="609600" cy="609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35000" y="2159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Wolin Students 教育管理系统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3111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FastAPI 的教育管理系统答辩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4826000"/>
            <a:ext cx="2794000" cy="457200"/>
          </a:xfrm>
          <a:prstGeom prst="roundRect">
            <a:avLst>
              <a:gd name="adj" fmla="val 50000"/>
            </a:avLst>
          </a:prstGeom>
          <a:solidFill>
            <a:srgbClr val="007BFF">
              <a:alpha val="20000"/>
            </a:srgbClr>
          </a:solidFill>
          <a:ln w="12700" cmpd="sng" cap="flat">
            <a:solidFill>
              <a:srgbClr val="007B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99000" y="4826000"/>
            <a:ext cx="279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答辩人：收手吧阿组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635000"/>
            <a:ext cx="101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923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8796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171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032000" y="20574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介绍项目背景与核心特性，阐述项目开发的初衷与目标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52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604000" y="18923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112000" y="18796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0" y="171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0" y="20574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展示项目所使用的技术及选型理由，涵盖前端与后端架构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2857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2258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3213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032000" y="3048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032000" y="33909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详细讲解六大核心功能模块，分析其业务逻辑与实现细节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2857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04000" y="32258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112000" y="32131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0" y="30480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0" y="33909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分析数据库表结构与实体关系，展示E-R图与表设计规范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19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45593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1524000" y="45466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032000" y="4381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项目结构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032000" y="47244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展示项目的代码组织架构，说明各模块的依赖关系与职责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350000" y="419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9ECE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04000" y="4559300"/>
            <a:ext cx="406400" cy="4064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7112000" y="4546600"/>
            <a:ext cx="38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20000" y="4381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620000" y="4724400"/>
            <a:ext cx="355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总结项目开发成果与遇到的挑战，展望未来的优化方向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203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8333" r="8333" t="8518" b="8518"/>
          <a:stretch>
            <a:fillRect/>
          </a:stretch>
        </p:blipFill>
        <p:spPr>
          <a:xfrm rot="0" flipH="false" flipV="false">
            <a:off x="762000" y="1651000"/>
            <a:ext cx="2540000" cy="1422400"/>
          </a:xfrm>
          <a:prstGeom prst="roundRect">
            <a:avLst>
              <a:gd name="adj" fmla="val 8928"/>
            </a:avLst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007BFF">
                <a:alpha val="2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3302000"/>
            <a:ext cx="254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429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教育管理系统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高效 · 智能 · 数据驱动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助力机构数字化转型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83000" y="1651000"/>
            <a:ext cx="774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937000" y="1841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318000" y="1803400"/>
            <a:ext cx="685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37000" y="2222500"/>
            <a:ext cx="723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针对教育培训机构管理痛点，打造一体化学生管理平台。覆盖学生、班级、教师、就业及成绩全链路数据管理，提供多维度统计分析，为管理决策提供精准数据支持。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3048000"/>
            <a:ext cx="7747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937000" y="3238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318000" y="3200400"/>
            <a:ext cx="685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核心特性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937000" y="37465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4254500" y="37084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RESTful API设计：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接口清晰规范，易于对接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937000" y="4191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254500" y="41529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分层架构体系：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结构清晰，低耦合易维护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3937000" y="4635500"/>
            <a:ext cx="254000" cy="254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254500" y="45974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严格数据验证：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Pydantic保障数据安全可靠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7620000" y="3746500"/>
            <a:ext cx="254000" cy="2540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937500" y="37084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支持逻辑删除：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保留完整历史数据可追溯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7620000" y="41910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937500" y="41529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多维统计分析：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可视化报表辅助管理决策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7620000" y="46355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937500" y="45974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自动生成文档：</a:t>
            </a: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Swagger文档便于调试测试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6096000"/>
            <a:ext cx="10668000" cy="508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7BFF">
                  <a:alpha val="100000"/>
                </a:srgbClr>
              </a:gs>
              <a:gs pos="100000">
                <a:srgbClr val="F0F8FF">
                  <a:alpha val="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5113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  <a:endParaRPr lang="en-US" sz="1100"/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762000" y="1397000"/>
          <a:ext cx="10668000" cy="2895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1524000"/>
                <a:gridCol w="6858000"/>
              </a:tblGrid>
              <a:tr h="4572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技术组件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核心说明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BFF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Python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3.10+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主要编程语言，提供简洁语法与丰富生态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FastAPI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0.135.3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现代、高性能的Web框架，支持异步与自动文档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SQLAlchemy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2.0.49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强大的SQL工具包和ORM，简化数据库复杂操作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Pydantic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2.12.5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数据验证和设置管理，确保接口数据健壮性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MySQL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5.7+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稳定的关系型数据库，适合存储结构化数据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4064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Uvicorn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6C757D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0.43.0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333333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高性能ASGI服务器，支持异步Web应用部署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4" id="4"/>
          <p:cNvSpPr/>
          <p:nvPr/>
        </p:nvSpPr>
        <p:spPr>
          <a:xfrm rot="0" flipH="false" flipV="false">
            <a:off x="762000" y="4191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核心选型理由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254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38" b="38"/>
          <a:stretch>
            <a:fillRect/>
          </a:stretch>
        </p:blipFill>
        <p:spPr>
          <a:xfrm rot="0" flipH="false" flipV="false">
            <a:off x="889000" y="4826000"/>
            <a:ext cx="508000" cy="381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4826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52705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高性能、开发效率高，并能自动生成交互式API文档，降低联调成本。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67100" y="4699000"/>
            <a:ext cx="254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3594100" y="482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064000" y="4826000"/>
            <a:ext cx="18161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SQLAlchemy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594100" y="52705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功能强大的ORM框架，支持复杂SQL查询构建，便于数据库迁移与维护。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72200" y="4699000"/>
            <a:ext cx="254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299200" y="482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769100" y="4826000"/>
            <a:ext cx="18161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Pydantic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99200" y="52705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与FastAPI无缝集成，提供严格的运行时数据验证，有效拦截非法请求。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0" y="4699000"/>
            <a:ext cx="2540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9017000" y="4826000"/>
            <a:ext cx="508000" cy="25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9588500" y="4826000"/>
            <a:ext cx="1714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MySQL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17000" y="5270500"/>
            <a:ext cx="228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成熟稳定的开源关系型数据库，社区活跃，适合存储结构化的教育管理数据。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BF5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功能模块总览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032000" y="1714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学生管理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956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负责人：胡雪松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715000" y="1714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4445000" y="25400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班级管理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8956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负责人：杨通辉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524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9398000" y="1714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8128000" y="25400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教师管理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8956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负责人：王雄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2032000" y="3873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762000" y="46990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考试管理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0546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负责人：赵育聪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5715000" y="3873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4445000" y="46990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就业管理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445000" y="50546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负责人：田聪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683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7"/>
          <a:srcRect l="0" r="0" t="0" b="0"/>
          <a:stretch>
            <a:fillRect/>
          </a:stretch>
        </p:blipFill>
        <p:spPr>
          <a:xfrm rot="0" flipH="false" flipV="false">
            <a:off x="9398000" y="3873500"/>
            <a:ext cx="762000" cy="76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5" id="25"/>
          <p:cNvSpPr/>
          <p:nvPr/>
        </p:nvSpPr>
        <p:spPr>
          <a:xfrm rot="0" flipH="false" flipV="false">
            <a:off x="8128000" y="46990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统计分析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28000" y="50546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负责人：吕伟建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功能模块：学生管理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 (CRUD)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81000" cy="381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32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获取学生列表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支持按学号、姓名、班级等多维度条件筛选查询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175000"/>
            <a:ext cx="381000" cy="381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3048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创建学生信息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添加新学生档案，系统自动初始化关联就业记录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937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381000" cy="381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4064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更新学生信息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灵活修改指定学生的各项基础与关联信息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953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207000"/>
            <a:ext cx="381000" cy="381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5080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删除学生记录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执行逻辑删除操作，保留历史数据可追溯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397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信息字段维度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350000" y="1905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159000"/>
            <a:ext cx="381000" cy="381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2032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基本信息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学号、姓名、性别、年龄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350000" y="2921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3175000"/>
            <a:ext cx="381000" cy="381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112000" y="3048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学历背景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籍贯、毕业院校、所学专业、最高学历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50000" y="3937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4191000"/>
            <a:ext cx="381000" cy="381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4064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时间节点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入学日期、毕业日期、记录创建时间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0" y="4953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0"/>
            </a:srgbClr>
          </a:solidFill>
          <a:ln w="12700" cmpd="sng" cap="flat">
            <a:solidFill>
              <a:srgbClr val="DEE2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604000" y="5207000"/>
            <a:ext cx="381000" cy="381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112000" y="5080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关联关系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所属班级ID、负责顾问ID、就业状态ID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048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功能模块：班级与教师管理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542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03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班级管理 (Class Management)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355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540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▍核心功能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921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支持班级全生命周期管理，包含增删改查、逻辑删除与恢复机制；支持按班主任维度查询其所管理的班级。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683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▍关键信息字段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064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班级编号、班级名称、开课时间、班主任ID等基础属性。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524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524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18542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1803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教师管理 (Teacher Management)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549" flipH="false" flipV="false">
            <a:off x="6604009" y="23558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604000" y="2540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▍核心功能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2921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支持教师信息的增删改查；可关联查询教师所管理的班级、教授的课程及负责的学生群体。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6830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▍精细化角色体系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4064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顾问 (Counselor) / 班主任 (Headteacher) / 讲师 (Lecturer)，不同角色对应不同的数据权限与管理范围。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8000"/>
            </a:srgbClr>
          </a:solidFill>
          <a:ln w="12700" cmpd="sng" cap="flat">
            <a:solidFill>
              <a:srgbClr val="007BFF">
                <a:alpha val="3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6642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460500" y="5613400"/>
            <a:ext cx="9652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权限控制亮点：</a:t>
            </a:r>
            <a:r>
              <a:rPr lang="en-US" b="fals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系统严格遵循角色权限分离原则，确保班主任仅能查看本班数据，讲师仅能管理授课相关信息，保障数据安全与管理边界清晰。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704088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功能模块：考试与就业管理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092" flipH="false" flipV="false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7BFF">
                <a:alpha val="3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考试管理模块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476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857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支持学生考试成绩的全生命周期管理，包括提交、修改与删除操作，确保数据准确。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3492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关键记录信息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873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详细记录学生ID、考核序次、具体成绩分数及考核日期，构建完整的学业档案。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100000"/>
            </a:srgbClr>
          </a:solidFill>
          <a:ln cmpd="sng" cap="flat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dir="5400000" dist="127000" blurRad="254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1651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1968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1905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就业管理模块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476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04000" y="2857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支持按学生或班级维度查看就业状态，提供记录更新、删除及逻辑恢复功能。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4925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关键记录信息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3873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涵盖学生/班级ID、姓名、就业开放时间、Offer下发时间、签约公司及薪资详情。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46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8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6388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5588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数据价值：</a:t>
            </a:r>
            <a:r>
              <a:rPr lang="en-US" b="false" i="false" strike="noStrike" u="none" sz="150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通过对考试成绩与就业数据的全链路数字化管理，为学校的教学质量评估与就业质量分析提供坚实的数据支撑。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功能模块：统计分析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968500"/>
            <a:ext cx="508000" cy="508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651000" y="1841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学生画像分析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651000" y="2222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支持30岁以上学生分布及各班级男女比例多维统计。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445000" y="1651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19685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334000" y="1841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学业成绩追踪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2222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实时生成班级平均分排名，自动筛选不及格学生名单。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1651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9685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9017000" y="1841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就业质量洞察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017000" y="2222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统计薪资最高的5名学生，分析各合作公司的就业人数。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429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651000" y="3619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系统数据总览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651000" y="4000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集成仪表盘，直观展示机构整体运营核心指标与趋势。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429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37465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334000" y="3619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报表一键导出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334000" y="4000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支持将各类统计数据生成Excel/CSV文件，便于存档分析。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3429000"/>
            <a:ext cx="3302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3746500"/>
            <a:ext cx="508000" cy="508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017000" y="3619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异常智能预警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017000" y="4000500"/>
            <a:ext cx="215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当数据偏离正常阈值时（如挂科率过高）自动触发提醒。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0" y="6350000"/>
            <a:ext cx="12192000" cy="5080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6413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数据驱动决策 · 实时监控运营 · 提升管理效率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8FF">
                <a:alpha val="100000"/>
              </a:srgbClr>
            </a:gs>
            <a:gs pos="100000">
              <a:srgbClr val="E0F2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数据库设计：表结构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7B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03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教师表 (teacher)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286000"/>
            <a:ext cx="287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存储教师基本信息（工号、姓名、职称）及系统角色权限配置。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94200" y="1651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48200" y="1841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56200" y="1803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班级表 (class)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48200" y="2286000"/>
            <a:ext cx="287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存储班级基础信息（班号、专业），并关联班主任ID，确立管理关系。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026400" y="1651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80400" y="1841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788400" y="1803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学生表 (stu_info)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80400" y="2286000"/>
            <a:ext cx="287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存储学生核心信息（学号、姓名、性别），并关联所属班级ID。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3962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考试成绩表 (record)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445000"/>
            <a:ext cx="287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记录学生历次考试的详细成绩数据，包括科目、分数及考试时间。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394200" y="3810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48200" y="4000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156200" y="3962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就业信息表 (job)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48200" y="4445000"/>
            <a:ext cx="287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跟踪记录学生毕业后的就业状态、单位名称及薪资等关键信息。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026400" y="3810000"/>
            <a:ext cx="33782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280400" y="4000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88400" y="39624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班级教师关联表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280400" y="4445000"/>
            <a:ext cx="2870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维护班级与授课教师之间的多对多关系，解决数据冗余问题。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007B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969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核心设计理念：规范化存储基础数据，通过关联表保障关系灵活性，确保数据完整性与可扩展性。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数据库设计：实体关系图 (ER图)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123" b="123"/>
          <a:stretch>
            <a:fillRect/>
          </a:stretch>
        </p:blipFill>
        <p:spPr>
          <a:xfrm rot="0" flipH="false" flipV="false">
            <a:off x="3810000" y="1270000"/>
            <a:ext cx="4572000" cy="2565400"/>
          </a:xfrm>
          <a:prstGeom prst="roundRect">
            <a:avLst>
              <a:gd name="adj" fmla="val 7425"/>
            </a:avLst>
          </a:prstGeom>
          <a:noFill/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5400000" dist="101600" blurRad="190500" algn="tl" rotWithShape="false">
              <a:srgbClr val="007BFF">
                <a:alpha val="20000"/>
              </a:srgbClr>
            </a:outerShdw>
          </a:effectLst>
        </p:spPr>
      </p:pic>
      <p:sp>
        <p:nvSpPr>
          <p:cNvPr name="AutoShape 4" id="4"/>
          <p:cNvSpPr/>
          <p:nvPr/>
        </p:nvSpPr>
        <p:spPr>
          <a:xfrm rot="0" flipH="false" flipV="false">
            <a:off x="762000" y="4191000"/>
            <a:ext cx="33782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44196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4254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教师与班级 (1:N)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一位教师可担任多个班级的班主任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94200" y="4191000"/>
            <a:ext cx="33782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4584700" y="44196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5092700" y="4254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班级与学生 (1:N)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一个班级包含多名学生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26400" y="4191000"/>
            <a:ext cx="33782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216900" y="44196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8724900" y="4254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教师与学生 (M:N)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通过顾问关系，一位顾问负责多名学生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943100" y="5270500"/>
            <a:ext cx="33782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2133600" y="54991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2641600" y="5334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学生与考试 (1:N)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一名学生有多条考试记录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75300" y="5270500"/>
            <a:ext cx="33782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01600" algn="tl" rotWithShape="false">
              <a:srgbClr val="000000">
                <a:alpha val="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5765800" y="54991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273800" y="5334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学生与就业 (1:1)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一名学生对应一条就业记录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8FF">
                <a:alpha val="100000"/>
              </a:srgbClr>
            </a:gs>
            <a:gs pos="100000">
              <a:srgbClr val="E0F2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203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项目结构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06500"/>
            <a:ext cx="1066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采用清晰的三层架构设计，职责分离，提升代码可维护性与扩展性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739900" y="20955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2730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API 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17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处理 HTTP 请求与响应，定义接口路由，作为系统的流量入口。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1778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25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70400" y="2095500"/>
            <a:ext cx="508000" cy="508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3619500" y="2730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DAO 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19500" y="317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数据访问对象，封装数据库 CRUD 操作逻辑，隔离业务与数据。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778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200900" y="2095500"/>
            <a:ext cx="508000" cy="508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350000" y="2730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Model 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0" y="317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定义数据库表结构和实体模型，映射底层数据存储结构。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953500" y="1778000"/>
            <a:ext cx="2476500" cy="25400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53500" y="1778000"/>
            <a:ext cx="2476500" cy="762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931400" y="20955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080500" y="27305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Schemas 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80500" y="3175000"/>
            <a:ext cx="2222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使用 Pydantic 定义数据验证模型和响应格式，确保数据安全。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7BFF">
              <a:alpha val="8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0800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651000" y="4889500"/>
            <a:ext cx="9525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架构优势：</a:t>
            </a:r>
            <a:r>
              <a:rPr lang="en-US" b="false" i="false" strike="noStrike" u="none" sz="16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这种分层架构使得代码职责清晰，模块间解耦，极大地降低了系统复杂度。它不仅便于团队并行开发，也为后续的功能迭代和系统维护提供了坚实的基础。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EBF2FF">
                <a:alpha val="100000"/>
              </a:srgbClr>
            </a:gs>
            <a:gs pos="100000">
              <a:srgbClr val="F0F9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201168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95500" y="2159000"/>
            <a:ext cx="635000" cy="635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889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429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成功开发教育管理系统，完整实现学生、班级、教师、考试、就业及统计分析六大核心模块。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78500" y="2159000"/>
            <a:ext cx="635000" cy="635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572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技术实现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3429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采用FastAPI + SQLAlchemy技术栈，构建高效规范的RESTful API，实现完善的数据验证与逻辑删除机制。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905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127000" blurRad="254000" algn="tl" rotWithShape="false">
              <a:srgbClr val="007BFF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61500" y="2159000"/>
            <a:ext cx="635000" cy="635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255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项目价值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3429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提供高效便捷的信息化管理工具，显著提升教育机构管理效率，并通过数据辅助科学决策。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7BFF">
              <a:alpha val="5000"/>
            </a:srgbClr>
          </a:solidFill>
          <a:ln w="12700" cmpd="sng" cap="flat">
            <a:solidFill>
              <a:srgbClr val="007B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5486400"/>
            <a:ext cx="10160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总结：系统高性能、可维护性强，具备良好的应用前景，已达成预期目标。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0F8FF">
                <a:alpha val="100000"/>
              </a:srgbClr>
            </a:gs>
            <a:gs pos="100000">
              <a:srgbClr val="DBEAFE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2514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展望与致谢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7B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080000" cy="3937000"/>
          </a:xfrm>
          <a:prstGeom prst="roundRect">
            <a:avLst>
              <a:gd name="adj" fmla="val 32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841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 Future Outlook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413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387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开发配套的前端用户界面，提供更友好的交互体验。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022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系统性能升级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优化系统性能，支持更大规模的数据量和并发访问。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683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460500" y="3657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多维数据分析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增加更多维度的统计分析和可视化图表，辅助决策。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4292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安全机制引入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引入用户认证与授权机制，全方位提升系统安全性。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1651000"/>
            <a:ext cx="5080000" cy="3937000"/>
          </a:xfrm>
          <a:prstGeom prst="roundRect">
            <a:avLst>
              <a:gd name="adj" fmla="val 322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7BFF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1841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12529"/>
                </a:solidFill>
                <a:latin typeface="Noto Sans SC"/>
                <a:ea typeface="Noto Sans SC"/>
                <a:cs typeface="Noto Sans SC"/>
                <a:sym typeface="Noto Sans SC"/>
              </a:rPr>
              <a:t>致谢 Acknowledgements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413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7048500" y="2387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恩师指导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感谢指导老师在项目过程中的悉心指导与答疑解惑。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3048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048500" y="3022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感谢团队成员的通力合作、辛勤付出与无私分享。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3683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048500" y="3657600"/>
            <a:ext cx="419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95057"/>
                </a:solidFill>
                <a:latin typeface="Noto Sans SC"/>
                <a:ea typeface="Noto Sans SC"/>
                <a:cs typeface="Noto Sans SC"/>
                <a:sym typeface="Noto Sans SC"/>
              </a:rPr>
              <a:t>评委聆听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感谢各位评委百忙之中的聆听，恳请批评指正。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096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6C757D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6223000"/>
            <a:ext cx="1066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感谢您的观看 · 期待与您交流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413000"/>
            <a:ext cx="1092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0000">
                <a:alpha val="60000"/>
              </a:srgbClr>
            </a:outerShdw>
          </a:effectLst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感谢聆听，敬请指正！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mpd="sng" cap="flat">
            <a:solidFill>
              <a:srgbClr val="38BDF8">
                <a:alpha val="80000"/>
              </a:srgbClr>
            </a:solidFill>
            <a:prstDash val="solid"/>
            <a:round/>
            <a:headEnd type="none" w="lg" len="lg"/>
            <a:tailEnd type="none" w="lg" len="lg"/>
          </a:ln>
          <a:effectLst>
            <a:outerShdw dir="2700000" dist="190500" blurRad="101600" algn="tl" rotWithShape="false">
              <a:srgbClr val="38BDF8">
                <a:alpha val="80000"/>
              </a:srgbClr>
            </a:outerShdw>
          </a:effectLst>
        </p:spPr>
      </p:cxnSp>
      <p:sp>
        <p:nvSpPr>
          <p:cNvPr name="AutoShape 6" id="6"/>
          <p:cNvSpPr/>
          <p:nvPr/>
        </p:nvSpPr>
        <p:spPr>
          <a:xfrm rot="0" flipH="false" flipV="false">
            <a:off x="635000" y="3683000"/>
            <a:ext cx="1092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E0F2FE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 &amp; WELCOME TO COMMENT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19800" y="4318000"/>
            <a:ext cx="152400" cy="152400"/>
          </a:xfrm>
          <a:prstGeom prst="roundRect">
            <a:avLst>
              <a:gd name="adj" fmla="val 0"/>
            </a:avLst>
          </a:prstGeom>
          <a:solidFill>
            <a:srgbClr val="38BDF8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